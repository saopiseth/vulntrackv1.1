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ags/tag2.xml" ContentType="application/vnd.openxmlformats-officedocument.presentationml.tags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ags/tag3.xml" ContentType="application/vnd.openxmlformats-officedocument.presentationml.tags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3.xml" ContentType="application/vnd.openxmlformats-officedocument.theme+xml"/>
  <Override PartName="/ppt/tags/tag4.xml" ContentType="application/vnd.openxmlformats-officedocument.presentationml.tag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4.xml" ContentType="application/vnd.openxmlformats-officedocument.theme+xml"/>
  <Override PartName="/ppt/tags/tag5.xml" ContentType="application/vnd.openxmlformats-officedocument.presentationml.tags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slides/slide9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667" r:id="rId5"/>
    <p:sldMasterId id="2147484751" r:id="rId6"/>
    <p:sldMasterId id="2147484760" r:id="rId7"/>
    <p:sldMasterId id="2147484757" r:id="rId8"/>
  </p:sldMasterIdLst>
  <p:notesMasterIdLst>
    <p:notesMasterId r:id="rId17"/>
  </p:notesMasterIdLst>
  <p:handoutMasterIdLst>
    <p:handoutMasterId r:id="rId18"/>
  </p:handoutMasterIdLst>
  <p:sldIdLst>
    <p:sldId id="2697" r:id="rId9"/>
    <p:sldId id="2147198413" r:id="rId10"/>
    <p:sldId id="2147198414" r:id="rId11"/>
    <p:sldId id="2147198409" r:id="rId12"/>
    <p:sldId id="2147198410" r:id="rId13"/>
    <p:sldId id="2147198411" r:id="rId14"/>
    <p:sldId id="2147198415" r:id="rId26"/>
    <p:sldId id="2147198412" r:id="rId15"/>
    <p:sldId id="2696" r:id="rId16"/>
  </p:sldIdLst>
  <p:sldSz cx="24377650" cy="13716000"/>
  <p:notesSz cx="6735763" cy="9866313"/>
  <p:custDataLst>
    <p:tags r:id="rId19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085" userDrawn="1">
          <p15:clr>
            <a:srgbClr val="A4A3A4"/>
          </p15:clr>
        </p15:guide>
        <p15:guide id="4" pos="14974" userDrawn="1">
          <p15:clr>
            <a:srgbClr val="A4A3A4"/>
          </p15:clr>
        </p15:guide>
        <p15:guide id="6" pos="466" userDrawn="1">
          <p15:clr>
            <a:srgbClr val="A4A3A4"/>
          </p15:clr>
        </p15:guide>
        <p15:guide id="8" orient="horz" pos="827" userDrawn="1">
          <p15:clr>
            <a:srgbClr val="A4A3A4"/>
          </p15:clr>
        </p15:guide>
        <p15:guide id="10" pos="12478" userDrawn="1">
          <p15:clr>
            <a:srgbClr val="A4A3A4"/>
          </p15:clr>
        </p15:guide>
        <p15:guide id="11" orient="horz" pos="45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08" userDrawn="1">
          <p15:clr>
            <a:srgbClr val="A4A3A4"/>
          </p15:clr>
        </p15:guide>
        <p15:guide id="2" pos="2122" userDrawn="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C70C202-36BD-3807-DEAE-A7A73CB2B071}" name="Sotharath Sor" initials="SS" userId="S::sotharath.sor@wingbank.com.kh::407a8598-738b-4303-b82d-32df8b20f9c7" providerId="AD"/>
  <p188:author id="{472D7214-53F6-CFC7-0787-22A8419D278F}" name="Chanreasey Choun" initials="CC" userId="S::chanreasey.choun@wingbank.com.kh::12114a6f-3cf0-4ada-8770-372b87e9d998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Vadim Dianov" initials="VD" lastIdx="0" clrIdx="0">
    <p:extLst>
      <p:ext uri="{19B8F6BF-5375-455C-9EA6-DF929625EA0E}">
        <p15:presenceInfo xmlns:p15="http://schemas.microsoft.com/office/powerpoint/2012/main" userId="c0e40506cef35c6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9CB37"/>
    <a:srgbClr val="0F9D58"/>
    <a:srgbClr val="FF0066"/>
    <a:srgbClr val="E9EBF5"/>
    <a:srgbClr val="0077FF"/>
    <a:srgbClr val="4472C4"/>
    <a:srgbClr val="ED7D31"/>
    <a:srgbClr val="ED7D32"/>
    <a:srgbClr val="C000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3796" autoAdjust="0"/>
  </p:normalViewPr>
  <p:slideViewPr>
    <p:cSldViewPr snapToGrid="0">
      <p:cViewPr varScale="1">
        <p:scale>
          <a:sx n="33" d="100"/>
          <a:sy n="33" d="100"/>
        </p:scale>
        <p:origin x="604" y="64"/>
      </p:cViewPr>
      <p:guideLst>
        <p:guide orient="horz" pos="8085"/>
        <p:guide pos="14974"/>
        <p:guide pos="466"/>
        <p:guide orient="horz" pos="827"/>
        <p:guide pos="12478"/>
        <p:guide orient="horz" pos="45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108"/>
        <p:guide pos="2122"/>
      </p:guideLst>
    </p:cSldViewPr>
  </p:notes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Master" Target="slideMasters/slideMaster4.xml"/><Relationship Id="rId13" Type="http://schemas.openxmlformats.org/officeDocument/2006/relationships/slide" Target="slides/slide5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Master" Target="slideMasters/slideMaster3.xml"/><Relationship Id="rId12" Type="http://schemas.openxmlformats.org/officeDocument/2006/relationships/slide" Target="slides/slide4.xml"/><Relationship Id="rId17" Type="http://schemas.openxmlformats.org/officeDocument/2006/relationships/notesMaster" Target="notesMasters/notesMaster1.xml"/><Relationship Id="rId25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8.xml"/><Relationship Id="rId20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2.xml"/><Relationship Id="rId11" Type="http://schemas.openxmlformats.org/officeDocument/2006/relationships/slide" Target="slides/slide3.xml"/><Relationship Id="rId2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7.xml"/><Relationship Id="rId23" Type="http://schemas.openxmlformats.org/officeDocument/2006/relationships/theme" Target="theme/theme1.xml"/><Relationship Id="rId10" Type="http://schemas.openxmlformats.org/officeDocument/2006/relationships/slide" Target="slides/slide2.xml"/><Relationship Id="rId19" Type="http://schemas.openxmlformats.org/officeDocument/2006/relationships/tags" Target="tags/tag1.xml"/><Relationship Id="rId4" Type="http://schemas.openxmlformats.org/officeDocument/2006/relationships/customXml" Target="../customXml/item4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viewProps" Target="viewProps.xml"/><Relationship Id="rId26" Type="http://schemas.openxmlformats.org/officeDocument/2006/relationships/slide" Target="slides/slide9.xml"/></Relationships>
</file>

<file path=ppt/handoutMasters/_rels/handoutMaster1.xml.rels><?xml version="1.0" encoding="UTF-8"?>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15373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D7A611-2048-4605-8D03-E3095CC75915}" type="datetimeFigureOut">
              <a:rPr lang="ru-RU" smtClean="0"/>
              <a:pPr/>
              <a:t>21.02.2026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15373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25B5DF-ECC1-4884-9553-BC4B4E4A44C7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535594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Calibri Light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15373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Calibri Light"/>
              </a:defRPr>
            </a:lvl1pPr>
          </a:lstStyle>
          <a:p>
            <a:fld id="{EFC10EE1-B198-C942-8235-326C972CBB30}" type="datetimeFigureOut">
              <a:rPr lang="en-US" smtClean="0"/>
              <a:pPr/>
              <a:t>2/21/2026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80963" y="739775"/>
            <a:ext cx="6573837" cy="37004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3577" y="4686499"/>
            <a:ext cx="5388610" cy="443984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Calibri Light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15373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Calibri Light"/>
              </a:defRPr>
            </a:lvl1pPr>
          </a:lstStyle>
          <a:p>
            <a:fld id="{006BE02D-20C0-F840-AFAC-BEA99C74FDC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2891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217" rtl="0" eaLnBrk="1" latinLnBrk="0" hangingPunct="1">
      <a:defRPr sz="2400" kern="1200">
        <a:solidFill>
          <a:schemeClr val="tx1"/>
        </a:solidFill>
        <a:latin typeface="Calibri Light"/>
        <a:ea typeface="+mn-ea"/>
        <a:cs typeface="+mn-cs"/>
      </a:defRPr>
    </a:lvl1pPr>
    <a:lvl2pPr marL="914217" algn="l" defTabSz="914217" rtl="0" eaLnBrk="1" latinLnBrk="0" hangingPunct="1">
      <a:defRPr sz="2400" kern="1200">
        <a:solidFill>
          <a:schemeClr val="tx1"/>
        </a:solidFill>
        <a:latin typeface="Calibri Light"/>
        <a:ea typeface="+mn-ea"/>
        <a:cs typeface="+mn-cs"/>
      </a:defRPr>
    </a:lvl2pPr>
    <a:lvl3pPr marL="1828434" algn="l" defTabSz="914217" rtl="0" eaLnBrk="1" latinLnBrk="0" hangingPunct="1">
      <a:defRPr sz="2400" kern="1200">
        <a:solidFill>
          <a:schemeClr val="tx1"/>
        </a:solidFill>
        <a:latin typeface="Calibri Light"/>
        <a:ea typeface="+mn-ea"/>
        <a:cs typeface="+mn-cs"/>
      </a:defRPr>
    </a:lvl3pPr>
    <a:lvl4pPr marL="2742651" algn="l" defTabSz="914217" rtl="0" eaLnBrk="1" latinLnBrk="0" hangingPunct="1">
      <a:defRPr sz="2400" kern="1200">
        <a:solidFill>
          <a:schemeClr val="tx1"/>
        </a:solidFill>
        <a:latin typeface="Calibri Light"/>
        <a:ea typeface="+mn-ea"/>
        <a:cs typeface="+mn-cs"/>
      </a:defRPr>
    </a:lvl4pPr>
    <a:lvl5pPr marL="3656868" algn="l" defTabSz="914217" rtl="0" eaLnBrk="1" latinLnBrk="0" hangingPunct="1">
      <a:defRPr sz="2400" kern="1200">
        <a:solidFill>
          <a:schemeClr val="tx1"/>
        </a:solidFill>
        <a:latin typeface="Calibri Light"/>
        <a:ea typeface="+mn-ea"/>
        <a:cs typeface="+mn-cs"/>
      </a:defRPr>
    </a:lvl5pPr>
    <a:lvl6pPr marL="4571086" algn="l" defTabSz="91421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5303" algn="l" defTabSz="91421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399520" algn="l" defTabSz="91421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3737" algn="l" defTabSz="91421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0883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8C6AA4-229B-3580-2E9F-70A3A9C81E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A95D4B-A425-209A-FDD6-23A55D045B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1AABF8-06B7-B50E-5BC2-3394BA8251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D8152A-26A6-018D-FDAA-EF304A8707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2380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CE6D83-244C-0458-B10E-F34AA3194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3CD2C3-B284-A9AA-296D-B8BE2E8BB7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759982-B9E5-CAB8-7420-248B500F5A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A6003A-7E9D-1EA3-E4DF-3072BA2695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4026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3ADB4D-C57F-0CFA-76EE-6AF60C2679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8B1B2F-C4BF-19D2-0F20-90A8ED3799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EB0AC1-0EEF-2FFC-19CD-428ED42D63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E0AD82-E4CB-E53E-7489-BE1B7CEB2A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5238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A9EEFD-39DC-1F31-B3D5-C8194C6F3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BB8E65-C39E-E0C6-3FE0-66D8EB21F0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1EB956-F758-ACD9-8D3F-3337F2B5A3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D10D66-5C7B-1DF0-54BE-9A5EB542B0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792848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?>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7.png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?>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12.xml.rels><?xml version="1.0" encoding="UTF-8"?>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ith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birds flying in the air  Description automatically generated">
            <a:extLst>
              <a:ext uri="{FF2B5EF4-FFF2-40B4-BE49-F238E27FC236}">
                <a16:creationId xmlns:a16="http://schemas.microsoft.com/office/drawing/2014/main" id="{17F36811-6DD0-09BD-AB28-87EF58C1AE7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026"/>
          <a:stretch/>
        </p:blipFill>
        <p:spPr>
          <a:xfrm>
            <a:off x="-35533" y="2971800"/>
            <a:ext cx="14315872" cy="10740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5010995"/>
      </p:ext>
    </p:extLst>
  </p:cSld>
  <p:clrMapOvr>
    <a:masterClrMapping/>
  </p:clrMapOvr>
  <p:transition spd="slow">
    <p:push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ank You!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5A8192C-D1EB-E0F7-C4E6-B89CF2B86804}"/>
              </a:ext>
            </a:extLst>
          </p:cNvPr>
          <p:cNvSpPr/>
          <p:nvPr userDrawn="1"/>
        </p:nvSpPr>
        <p:spPr>
          <a:xfrm>
            <a:off x="0" y="3572"/>
            <a:ext cx="24377650" cy="13712428"/>
          </a:xfrm>
          <a:prstGeom prst="rect">
            <a:avLst/>
          </a:prstGeom>
          <a:solidFill>
            <a:srgbClr val="A4C6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A white birds flying in the air  Description automatically generated">
            <a:extLst>
              <a:ext uri="{FF2B5EF4-FFF2-40B4-BE49-F238E27FC236}">
                <a16:creationId xmlns:a16="http://schemas.microsoft.com/office/drawing/2014/main" id="{2C2F123A-765A-D23D-0451-6B9EBD88853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228290" y="3505200"/>
            <a:ext cx="18149358" cy="10209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77257"/>
      </p:ext>
    </p:extLst>
  </p:cSld>
  <p:clrMapOvr>
    <a:masterClrMapping/>
  </p:clrMapOvr>
  <p:transition spd="slow">
    <p:push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hank You!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5A8192C-D1EB-E0F7-C4E6-B89CF2B86804}"/>
              </a:ext>
            </a:extLst>
          </p:cNvPr>
          <p:cNvSpPr/>
          <p:nvPr userDrawn="1"/>
        </p:nvSpPr>
        <p:spPr>
          <a:xfrm>
            <a:off x="0" y="3572"/>
            <a:ext cx="24377650" cy="13712428"/>
          </a:xfrm>
          <a:prstGeom prst="rect">
            <a:avLst/>
          </a:prstGeom>
          <a:solidFill>
            <a:srgbClr val="A4C6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white birds flying in the air  Description automatically generated">
            <a:extLst>
              <a:ext uri="{FF2B5EF4-FFF2-40B4-BE49-F238E27FC236}">
                <a16:creationId xmlns:a16="http://schemas.microsoft.com/office/drawing/2014/main" id="{50B9EF9C-E053-580B-F69D-3D4644ECAD0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503414"/>
            <a:ext cx="18284823" cy="10209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6835426"/>
      </p:ext>
    </p:extLst>
  </p:cSld>
  <p:clrMapOvr>
    <a:masterClrMapping/>
  </p:clrMapOvr>
  <p:transition spd="slow">
    <p:push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op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5A8192C-D1EB-E0F7-C4E6-B89CF2B86804}"/>
              </a:ext>
            </a:extLst>
          </p:cNvPr>
          <p:cNvSpPr/>
          <p:nvPr userDrawn="1"/>
        </p:nvSpPr>
        <p:spPr>
          <a:xfrm>
            <a:off x="0" y="3572"/>
            <a:ext cx="24377650" cy="13712428"/>
          </a:xfrm>
          <a:prstGeom prst="rect">
            <a:avLst/>
          </a:prstGeom>
          <a:solidFill>
            <a:srgbClr val="A4C6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4263C4-8ED8-C60A-1FCA-D6C31369971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Picture 4" descr="A white birds flying in the air  Description automatically generated">
            <a:extLst>
              <a:ext uri="{FF2B5EF4-FFF2-40B4-BE49-F238E27FC236}">
                <a16:creationId xmlns:a16="http://schemas.microsoft.com/office/drawing/2014/main" id="{A22E71E1-761F-7693-3B65-9B51289473E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506986"/>
            <a:ext cx="18284823" cy="10209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255662"/>
      </p:ext>
    </p:extLst>
  </p:cSld>
  <p:clrMapOvr>
    <a:masterClrMapping/>
  </p:clrMapOvr>
  <p:transition spd="slow">
    <p:push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67C7306-332D-A097-477A-4105FC4A20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BBA916-F14F-E1D5-3C38-10A8890A33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" name="Picture 1" descr="A white birds flying in the air  Description automatically generated">
            <a:extLst>
              <a:ext uri="{FF2B5EF4-FFF2-40B4-BE49-F238E27FC236}">
                <a16:creationId xmlns:a16="http://schemas.microsoft.com/office/drawing/2014/main" id="{62010269-05E6-0EB4-39D6-002A39E420E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026"/>
          <a:stretch/>
        </p:blipFill>
        <p:spPr>
          <a:xfrm>
            <a:off x="0" y="2971800"/>
            <a:ext cx="14315872" cy="10740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750849"/>
      </p:ext>
    </p:extLst>
  </p:cSld>
  <p:clrMapOvr>
    <a:masterClrMapping/>
  </p:clrMapOvr>
  <p:transition spd="slow">
    <p:push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217734-E2F0-44C4-57D9-AA9FB0EFEC8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5924055" y="179559"/>
            <a:ext cx="5484971" cy="730250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35257"/>
      </p:ext>
    </p:extLst>
  </p:cSld>
  <p:clrMapOvr>
    <a:masterClrMapping/>
  </p:clrMapOvr>
  <p:transition spd="slow">
    <p:push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ith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birds flying in the air  Description automatically generated">
            <a:extLst>
              <a:ext uri="{FF2B5EF4-FFF2-40B4-BE49-F238E27FC236}">
                <a16:creationId xmlns:a16="http://schemas.microsoft.com/office/drawing/2014/main" id="{17F36811-6DD0-09BD-AB28-87EF58C1AE7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026"/>
          <a:stretch/>
        </p:blipFill>
        <p:spPr>
          <a:xfrm>
            <a:off x="-35533" y="2971800"/>
            <a:ext cx="14315872" cy="10740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5648102"/>
      </p:ext>
    </p:extLst>
  </p:cSld>
  <p:clrMapOvr>
    <a:masterClrMapping/>
  </p:clrMapOvr>
  <p:transition spd="slow">
    <p:push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5FBDBE-28C3-B5CE-F473-62DFCC16EE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36433187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ith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birds flying in the air  Description automatically generated">
            <a:extLst>
              <a:ext uri="{FF2B5EF4-FFF2-40B4-BE49-F238E27FC236}">
                <a16:creationId xmlns:a16="http://schemas.microsoft.com/office/drawing/2014/main" id="{17F36811-6DD0-09BD-AB28-87EF58C1AE7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026"/>
          <a:stretch/>
        </p:blipFill>
        <p:spPr>
          <a:xfrm>
            <a:off x="-35533" y="2971800"/>
            <a:ext cx="14315872" cy="10740628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850C061D-9131-11B6-FB44-5148C5A46CF9}"/>
              </a:ext>
            </a:extLst>
          </p:cNvPr>
          <p:cNvGrpSpPr/>
          <p:nvPr userDrawn="1"/>
        </p:nvGrpSpPr>
        <p:grpSpPr>
          <a:xfrm>
            <a:off x="0" y="-437322"/>
            <a:ext cx="28085143" cy="16393886"/>
            <a:chOff x="0" y="0"/>
            <a:chExt cx="13851467" cy="7791450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5E29A15F-C3D8-A930-A14F-BE52E95BECB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13851467" cy="7791450"/>
            </a:xfrm>
            <a:prstGeom prst="rect">
              <a:avLst/>
            </a:prstGeom>
          </p:spPr>
        </p:pic>
        <p:pic>
          <p:nvPicPr>
            <p:cNvPr id="5" name="Picture 4" descr="A picture containing text, silhouette  Description automatically generated">
              <a:extLst>
                <a:ext uri="{FF2B5EF4-FFF2-40B4-BE49-F238E27FC236}">
                  <a16:creationId xmlns:a16="http://schemas.microsoft.com/office/drawing/2014/main" id="{2056DF67-3163-C190-5838-670FACB1190B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/>
            <a:srcRect l="43271"/>
            <a:stretch/>
          </p:blipFill>
          <p:spPr>
            <a:xfrm>
              <a:off x="6356350" y="0"/>
              <a:ext cx="5835650" cy="6858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08055915"/>
      </p:ext>
    </p:extLst>
  </p:cSld>
  <p:clrMapOvr>
    <a:masterClrMapping/>
  </p:clrMapOvr>
  <p:transition spd="slow">
    <p:push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465466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ith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birds flying in the air  Description automatically generated">
            <a:extLst>
              <a:ext uri="{FF2B5EF4-FFF2-40B4-BE49-F238E27FC236}">
                <a16:creationId xmlns:a16="http://schemas.microsoft.com/office/drawing/2014/main" id="{17F36811-6DD0-09BD-AB28-87EF58C1AE7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026"/>
          <a:stretch/>
        </p:blipFill>
        <p:spPr>
          <a:xfrm>
            <a:off x="-35533" y="2971800"/>
            <a:ext cx="14315872" cy="10740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00898"/>
      </p:ext>
    </p:extLst>
  </p:cSld>
  <p:clrMapOvr>
    <a:masterClrMapping/>
  </p:clrMapOvr>
  <p:transition spd="slow">
    <p:push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 with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birds flying in the air  Description automatically generated">
            <a:extLst>
              <a:ext uri="{FF2B5EF4-FFF2-40B4-BE49-F238E27FC236}">
                <a16:creationId xmlns:a16="http://schemas.microsoft.com/office/drawing/2014/main" id="{17F36811-6DD0-09BD-AB28-87EF58C1AE7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026"/>
          <a:stretch/>
        </p:blipFill>
        <p:spPr>
          <a:xfrm>
            <a:off x="-35533" y="2971800"/>
            <a:ext cx="14315872" cy="1074062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8E96CD3-B7FD-4F1C-2ED7-AF5B852191A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-437322"/>
            <a:ext cx="28085143" cy="16393886"/>
          </a:xfrm>
          <a:prstGeom prst="rect">
            <a:avLst/>
          </a:prstGeom>
        </p:spPr>
      </p:pic>
      <p:pic>
        <p:nvPicPr>
          <p:cNvPr id="4" name="Picture 3" descr="A picture containing text, silhouette  Description automatically generated">
            <a:extLst>
              <a:ext uri="{FF2B5EF4-FFF2-40B4-BE49-F238E27FC236}">
                <a16:creationId xmlns:a16="http://schemas.microsoft.com/office/drawing/2014/main" id="{75BFA437-E351-F50D-657F-6C805A2D952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l="43271"/>
          <a:stretch/>
        </p:blipFill>
        <p:spPr>
          <a:xfrm>
            <a:off x="12888093" y="-437322"/>
            <a:ext cx="11832325" cy="14429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0520141"/>
      </p:ext>
    </p:extLst>
  </p:cSld>
  <p:clrMapOvr>
    <a:masterClrMapping/>
  </p:clrMapOvr>
  <p:transition spd="slow">
    <p:push/>
  </p:transition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oleObject" Target="../embeddings/oleObject1.bin"/></Relationships>
</file>

<file path=ppt/slideMasters/_rels/slideMaster2.xml.rels><?xml version="1.0" encoding="UTF-8"?><Relationships xmlns="http://schemas.openxmlformats.org/package/2006/relationships"><Relationship Id="rId3" Type="http://schemas.openxmlformats.org/officeDocument/2006/relationships/theme" Target="../theme/theme2.xml"/><Relationship Id="rId7" Type="http://schemas.openxmlformats.org/officeDocument/2006/relationships/image" Target="../media/image4.png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1.bin"/><Relationship Id="rId4" Type="http://schemas.openxmlformats.org/officeDocument/2006/relationships/tags" Target="../tags/tag3.xml"/></Relationships>
</file>

<file path=ppt/slideMasters/_rels/slideMaster3.xml.rels><?xml version="1.0" encoding="UTF-8"?><Relationships xmlns="http://schemas.openxmlformats.org/package/2006/relationships"><Relationship Id="rId3" Type="http://schemas.openxmlformats.org/officeDocument/2006/relationships/theme" Target="../theme/theme3.xml"/><Relationship Id="rId7" Type="http://schemas.openxmlformats.org/officeDocument/2006/relationships/image" Target="../media/image5.png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1.bin"/><Relationship Id="rId4" Type="http://schemas.openxmlformats.org/officeDocument/2006/relationships/tags" Target="../tags/tag4.xml"/></Relationships>
</file>

<file path=ppt/slideMasters/_rels/slideMaster4.xml.rels><?xml version="1.0" encoding="UTF-8"?><Relationships xmlns="http://schemas.openxmlformats.org/package/2006/relationships"><Relationship Id="rId3" Type="http://schemas.openxmlformats.org/officeDocument/2006/relationships/theme" Target="../theme/theme4.xml"/><Relationship Id="rId7" Type="http://schemas.openxmlformats.org/officeDocument/2006/relationships/image" Target="../media/image8.jpeg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1.bin"/><Relationship Id="rId4" Type="http://schemas.openxmlformats.org/officeDocument/2006/relationships/tags" Target="../tags/tag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81EA8DB6-A905-0FC8-5366-2E43BD99086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58168636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395" imgH="394" progId="TCLayout.ActiveDocument.1">
                  <p:embed/>
                </p:oleObj>
              </mc:Choice>
              <mc:Fallback>
                <p:oleObj name="think-cell Slide" r:id="rId9" imgW="395" imgH="394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1EA8DB6-A905-0FC8-5366-2E43BD99086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Picture 2" descr="A blue and green letters on a black background  AI-generated content may be incorrect.">
            <a:extLst>
              <a:ext uri="{FF2B5EF4-FFF2-40B4-BE49-F238E27FC236}">
                <a16:creationId xmlns:a16="http://schemas.microsoft.com/office/drawing/2014/main" id="{00EFE858-DEC1-5829-FAE3-03700FD09B92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19062" y="511374"/>
            <a:ext cx="2713350" cy="840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72761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721" r:id="rId1"/>
    <p:sldLayoutId id="2147484726" r:id="rId2"/>
    <p:sldLayoutId id="2147484738" r:id="rId3"/>
    <p:sldLayoutId id="2147484765" r:id="rId4"/>
    <p:sldLayoutId id="2147484766" r:id="rId5"/>
    <p:sldLayoutId id="2147484767" r:id="rId6"/>
  </p:sldLayoutIdLst>
  <p:transition spd="slow">
    <p:push/>
  </p:transition>
  <p:hf hdr="0" ftr="0" dt="0"/>
  <p:txStyles>
    <p:titleStyle>
      <a:lvl1pPr algn="l" defTabSz="1828343" rtl="0" eaLnBrk="1" latinLnBrk="0" hangingPunct="1">
        <a:lnSpc>
          <a:spcPct val="90000"/>
        </a:lnSpc>
        <a:spcBef>
          <a:spcPct val="0"/>
        </a:spcBef>
        <a:buNone/>
        <a:defRPr sz="879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086" indent="-457086" algn="l" defTabSz="1828343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599" kern="1200">
          <a:solidFill>
            <a:schemeClr val="tx1"/>
          </a:solidFill>
          <a:latin typeface="+mn-lt"/>
          <a:ea typeface="+mn-ea"/>
          <a:cs typeface="+mn-cs"/>
        </a:defRPr>
      </a:lvl1pPr>
      <a:lvl2pPr marL="1371257" indent="-457086" algn="l" defTabSz="182834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799" kern="1200">
          <a:solidFill>
            <a:schemeClr val="tx1"/>
          </a:solidFill>
          <a:latin typeface="+mn-lt"/>
          <a:ea typeface="+mn-ea"/>
          <a:cs typeface="+mn-cs"/>
        </a:defRPr>
      </a:lvl2pPr>
      <a:lvl3pPr marL="2285429" indent="-457086" algn="l" defTabSz="182834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999" kern="1200">
          <a:solidFill>
            <a:schemeClr val="tx1"/>
          </a:solidFill>
          <a:latin typeface="+mn-lt"/>
          <a:ea typeface="+mn-ea"/>
          <a:cs typeface="+mn-cs"/>
        </a:defRPr>
      </a:lvl3pPr>
      <a:lvl4pPr marL="3199600" indent="-457086" algn="l" defTabSz="182834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599" kern="1200">
          <a:solidFill>
            <a:schemeClr val="tx1"/>
          </a:solidFill>
          <a:latin typeface="+mn-lt"/>
          <a:ea typeface="+mn-ea"/>
          <a:cs typeface="+mn-cs"/>
        </a:defRPr>
      </a:lvl4pPr>
      <a:lvl5pPr marL="4113771" indent="-457086" algn="l" defTabSz="182834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599" kern="1200">
          <a:solidFill>
            <a:schemeClr val="tx1"/>
          </a:solidFill>
          <a:latin typeface="+mn-lt"/>
          <a:ea typeface="+mn-ea"/>
          <a:cs typeface="+mn-cs"/>
        </a:defRPr>
      </a:lvl5pPr>
      <a:lvl6pPr marL="5027943" indent="-457086" algn="l" defTabSz="182834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599" kern="1200">
          <a:solidFill>
            <a:schemeClr val="tx1"/>
          </a:solidFill>
          <a:latin typeface="+mn-lt"/>
          <a:ea typeface="+mn-ea"/>
          <a:cs typeface="+mn-cs"/>
        </a:defRPr>
      </a:lvl6pPr>
      <a:lvl7pPr marL="5942114" indent="-457086" algn="l" defTabSz="182834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599" kern="1200">
          <a:solidFill>
            <a:schemeClr val="tx1"/>
          </a:solidFill>
          <a:latin typeface="+mn-lt"/>
          <a:ea typeface="+mn-ea"/>
          <a:cs typeface="+mn-cs"/>
        </a:defRPr>
      </a:lvl7pPr>
      <a:lvl8pPr marL="6856286" indent="-457086" algn="l" defTabSz="182834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599" kern="1200">
          <a:solidFill>
            <a:schemeClr val="tx1"/>
          </a:solidFill>
          <a:latin typeface="+mn-lt"/>
          <a:ea typeface="+mn-ea"/>
          <a:cs typeface="+mn-cs"/>
        </a:defRPr>
      </a:lvl8pPr>
      <a:lvl9pPr marL="7770457" indent="-457086" algn="l" defTabSz="182834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5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343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1pPr>
      <a:lvl2pPr marL="914171" algn="l" defTabSz="1828343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2pPr>
      <a:lvl3pPr marL="1828343" algn="l" defTabSz="1828343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3pPr>
      <a:lvl4pPr marL="2742514" algn="l" defTabSz="1828343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4pPr>
      <a:lvl5pPr marL="3656686" algn="l" defTabSz="1828343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5pPr>
      <a:lvl6pPr marL="4570857" algn="l" defTabSz="1828343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6pPr>
      <a:lvl7pPr marL="5485028" algn="l" defTabSz="1828343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7pPr>
      <a:lvl8pPr marL="6399200" algn="l" defTabSz="1828343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8pPr>
      <a:lvl9pPr marL="7313371" algn="l" defTabSz="1828343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320" userDrawn="1">
          <p15:clr>
            <a:srgbClr val="F26B43"/>
          </p15:clr>
        </p15:guide>
        <p15:guide id="2" pos="7678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81EA8DB6-A905-0FC8-5366-2E43BD99086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58168636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95" imgH="394" progId="TCLayout.ActiveDocument.1">
                  <p:embed/>
                </p:oleObj>
              </mc:Choice>
              <mc:Fallback>
                <p:oleObj name="think-cell Slide" r:id="rId5" imgW="395" imgH="394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1EA8DB6-A905-0FC8-5366-2E43BD99086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Picture 2" descr="A yellow and blue logo  AI-generated content may be incorrect.">
            <a:extLst>
              <a:ext uri="{FF2B5EF4-FFF2-40B4-BE49-F238E27FC236}">
                <a16:creationId xmlns:a16="http://schemas.microsoft.com/office/drawing/2014/main" id="{19396965-479B-9CCF-6033-C67A453E6871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10617" y="484401"/>
            <a:ext cx="2343904" cy="801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78548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756" r:id="rId1"/>
    <p:sldLayoutId id="2147484763" r:id="rId2"/>
  </p:sldLayoutIdLst>
  <p:transition spd="slow">
    <p:push/>
  </p:transition>
  <p:hf hdr="0" ftr="0" dt="0"/>
  <p:txStyles>
    <p:titleStyle>
      <a:lvl1pPr algn="l" defTabSz="1828343" rtl="0" eaLnBrk="1" latinLnBrk="0" hangingPunct="1">
        <a:lnSpc>
          <a:spcPct val="90000"/>
        </a:lnSpc>
        <a:spcBef>
          <a:spcPct val="0"/>
        </a:spcBef>
        <a:buNone/>
        <a:defRPr sz="879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086" indent="-457086" algn="l" defTabSz="1828343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599" kern="1200">
          <a:solidFill>
            <a:schemeClr val="tx1"/>
          </a:solidFill>
          <a:latin typeface="+mn-lt"/>
          <a:ea typeface="+mn-ea"/>
          <a:cs typeface="+mn-cs"/>
        </a:defRPr>
      </a:lvl1pPr>
      <a:lvl2pPr marL="1371257" indent="-457086" algn="l" defTabSz="182834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799" kern="1200">
          <a:solidFill>
            <a:schemeClr val="tx1"/>
          </a:solidFill>
          <a:latin typeface="+mn-lt"/>
          <a:ea typeface="+mn-ea"/>
          <a:cs typeface="+mn-cs"/>
        </a:defRPr>
      </a:lvl2pPr>
      <a:lvl3pPr marL="2285429" indent="-457086" algn="l" defTabSz="182834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999" kern="1200">
          <a:solidFill>
            <a:schemeClr val="tx1"/>
          </a:solidFill>
          <a:latin typeface="+mn-lt"/>
          <a:ea typeface="+mn-ea"/>
          <a:cs typeface="+mn-cs"/>
        </a:defRPr>
      </a:lvl3pPr>
      <a:lvl4pPr marL="3199600" indent="-457086" algn="l" defTabSz="182834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599" kern="1200">
          <a:solidFill>
            <a:schemeClr val="tx1"/>
          </a:solidFill>
          <a:latin typeface="+mn-lt"/>
          <a:ea typeface="+mn-ea"/>
          <a:cs typeface="+mn-cs"/>
        </a:defRPr>
      </a:lvl4pPr>
      <a:lvl5pPr marL="4113771" indent="-457086" algn="l" defTabSz="182834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599" kern="1200">
          <a:solidFill>
            <a:schemeClr val="tx1"/>
          </a:solidFill>
          <a:latin typeface="+mn-lt"/>
          <a:ea typeface="+mn-ea"/>
          <a:cs typeface="+mn-cs"/>
        </a:defRPr>
      </a:lvl5pPr>
      <a:lvl6pPr marL="5027943" indent="-457086" algn="l" defTabSz="182834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599" kern="1200">
          <a:solidFill>
            <a:schemeClr val="tx1"/>
          </a:solidFill>
          <a:latin typeface="+mn-lt"/>
          <a:ea typeface="+mn-ea"/>
          <a:cs typeface="+mn-cs"/>
        </a:defRPr>
      </a:lvl6pPr>
      <a:lvl7pPr marL="5942114" indent="-457086" algn="l" defTabSz="182834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599" kern="1200">
          <a:solidFill>
            <a:schemeClr val="tx1"/>
          </a:solidFill>
          <a:latin typeface="+mn-lt"/>
          <a:ea typeface="+mn-ea"/>
          <a:cs typeface="+mn-cs"/>
        </a:defRPr>
      </a:lvl7pPr>
      <a:lvl8pPr marL="6856286" indent="-457086" algn="l" defTabSz="182834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599" kern="1200">
          <a:solidFill>
            <a:schemeClr val="tx1"/>
          </a:solidFill>
          <a:latin typeface="+mn-lt"/>
          <a:ea typeface="+mn-ea"/>
          <a:cs typeface="+mn-cs"/>
        </a:defRPr>
      </a:lvl8pPr>
      <a:lvl9pPr marL="7770457" indent="-457086" algn="l" defTabSz="182834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5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343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1pPr>
      <a:lvl2pPr marL="914171" algn="l" defTabSz="1828343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2pPr>
      <a:lvl3pPr marL="1828343" algn="l" defTabSz="1828343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3pPr>
      <a:lvl4pPr marL="2742514" algn="l" defTabSz="1828343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4pPr>
      <a:lvl5pPr marL="3656686" algn="l" defTabSz="1828343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5pPr>
      <a:lvl6pPr marL="4570857" algn="l" defTabSz="1828343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6pPr>
      <a:lvl7pPr marL="5485028" algn="l" defTabSz="1828343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7pPr>
      <a:lvl8pPr marL="6399200" algn="l" defTabSz="1828343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8pPr>
      <a:lvl9pPr marL="7313371" algn="l" defTabSz="1828343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81EA8DB6-A905-0FC8-5366-2E43BD99086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58168636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95" imgH="394" progId="TCLayout.ActiveDocument.1">
                  <p:embed/>
                </p:oleObj>
              </mc:Choice>
              <mc:Fallback>
                <p:oleObj name="think-cell Slide" r:id="rId5" imgW="395" imgH="394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1EA8DB6-A905-0FC8-5366-2E43BD99086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 descr="A blue and yellow text on a black background  AI-generated content may be incorrect.">
            <a:extLst>
              <a:ext uri="{FF2B5EF4-FFF2-40B4-BE49-F238E27FC236}">
                <a16:creationId xmlns:a16="http://schemas.microsoft.com/office/drawing/2014/main" id="{EB39DDDC-996E-1E71-34BF-3DE5A11B1571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53949" y="428198"/>
            <a:ext cx="2280695" cy="802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23519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761" r:id="rId1"/>
    <p:sldLayoutId id="2147484762" r:id="rId2"/>
  </p:sldLayoutIdLst>
  <p:transition spd="slow">
    <p:push/>
  </p:transition>
  <p:hf hdr="0" ftr="0" dt="0"/>
  <p:txStyles>
    <p:titleStyle>
      <a:lvl1pPr algn="l" defTabSz="1828343" rtl="0" eaLnBrk="1" latinLnBrk="0" hangingPunct="1">
        <a:lnSpc>
          <a:spcPct val="90000"/>
        </a:lnSpc>
        <a:spcBef>
          <a:spcPct val="0"/>
        </a:spcBef>
        <a:buNone/>
        <a:defRPr sz="879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086" indent="-457086" algn="l" defTabSz="1828343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599" kern="1200">
          <a:solidFill>
            <a:schemeClr val="tx1"/>
          </a:solidFill>
          <a:latin typeface="+mn-lt"/>
          <a:ea typeface="+mn-ea"/>
          <a:cs typeface="+mn-cs"/>
        </a:defRPr>
      </a:lvl1pPr>
      <a:lvl2pPr marL="1371257" indent="-457086" algn="l" defTabSz="182834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799" kern="1200">
          <a:solidFill>
            <a:schemeClr val="tx1"/>
          </a:solidFill>
          <a:latin typeface="+mn-lt"/>
          <a:ea typeface="+mn-ea"/>
          <a:cs typeface="+mn-cs"/>
        </a:defRPr>
      </a:lvl2pPr>
      <a:lvl3pPr marL="2285429" indent="-457086" algn="l" defTabSz="182834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999" kern="1200">
          <a:solidFill>
            <a:schemeClr val="tx1"/>
          </a:solidFill>
          <a:latin typeface="+mn-lt"/>
          <a:ea typeface="+mn-ea"/>
          <a:cs typeface="+mn-cs"/>
        </a:defRPr>
      </a:lvl3pPr>
      <a:lvl4pPr marL="3199600" indent="-457086" algn="l" defTabSz="182834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599" kern="1200">
          <a:solidFill>
            <a:schemeClr val="tx1"/>
          </a:solidFill>
          <a:latin typeface="+mn-lt"/>
          <a:ea typeface="+mn-ea"/>
          <a:cs typeface="+mn-cs"/>
        </a:defRPr>
      </a:lvl4pPr>
      <a:lvl5pPr marL="4113771" indent="-457086" algn="l" defTabSz="182834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599" kern="1200">
          <a:solidFill>
            <a:schemeClr val="tx1"/>
          </a:solidFill>
          <a:latin typeface="+mn-lt"/>
          <a:ea typeface="+mn-ea"/>
          <a:cs typeface="+mn-cs"/>
        </a:defRPr>
      </a:lvl5pPr>
      <a:lvl6pPr marL="5027943" indent="-457086" algn="l" defTabSz="182834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599" kern="1200">
          <a:solidFill>
            <a:schemeClr val="tx1"/>
          </a:solidFill>
          <a:latin typeface="+mn-lt"/>
          <a:ea typeface="+mn-ea"/>
          <a:cs typeface="+mn-cs"/>
        </a:defRPr>
      </a:lvl6pPr>
      <a:lvl7pPr marL="5942114" indent="-457086" algn="l" defTabSz="182834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599" kern="1200">
          <a:solidFill>
            <a:schemeClr val="tx1"/>
          </a:solidFill>
          <a:latin typeface="+mn-lt"/>
          <a:ea typeface="+mn-ea"/>
          <a:cs typeface="+mn-cs"/>
        </a:defRPr>
      </a:lvl7pPr>
      <a:lvl8pPr marL="6856286" indent="-457086" algn="l" defTabSz="182834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599" kern="1200">
          <a:solidFill>
            <a:schemeClr val="tx1"/>
          </a:solidFill>
          <a:latin typeface="+mn-lt"/>
          <a:ea typeface="+mn-ea"/>
          <a:cs typeface="+mn-cs"/>
        </a:defRPr>
      </a:lvl8pPr>
      <a:lvl9pPr marL="7770457" indent="-457086" algn="l" defTabSz="182834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5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343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1pPr>
      <a:lvl2pPr marL="914171" algn="l" defTabSz="1828343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2pPr>
      <a:lvl3pPr marL="1828343" algn="l" defTabSz="1828343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3pPr>
      <a:lvl4pPr marL="2742514" algn="l" defTabSz="1828343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4pPr>
      <a:lvl5pPr marL="3656686" algn="l" defTabSz="1828343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5pPr>
      <a:lvl6pPr marL="4570857" algn="l" defTabSz="1828343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6pPr>
      <a:lvl7pPr marL="5485028" algn="l" defTabSz="1828343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7pPr>
      <a:lvl8pPr marL="6399200" algn="l" defTabSz="1828343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8pPr>
      <a:lvl9pPr marL="7313371" algn="l" defTabSz="1828343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81EA8DB6-A905-0FC8-5366-2E43BD99086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58168636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95" imgH="394" progId="TCLayout.ActiveDocument.1">
                  <p:embed/>
                </p:oleObj>
              </mc:Choice>
              <mc:Fallback>
                <p:oleObj name="think-cell Slide" r:id="rId5" imgW="395" imgH="394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1EA8DB6-A905-0FC8-5366-2E43BD99086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6AFDEF74-0741-61DA-F134-F64F61BF496C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82922" y="290054"/>
            <a:ext cx="1302098" cy="1302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01892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758" r:id="rId1"/>
    <p:sldLayoutId id="2147484764" r:id="rId2"/>
  </p:sldLayoutIdLst>
  <p:transition spd="slow">
    <p:push/>
  </p:transition>
  <p:hf hdr="0" ftr="0" dt="0"/>
  <p:txStyles>
    <p:titleStyle>
      <a:lvl1pPr algn="l" defTabSz="1828343" rtl="0" eaLnBrk="1" latinLnBrk="0" hangingPunct="1">
        <a:lnSpc>
          <a:spcPct val="90000"/>
        </a:lnSpc>
        <a:spcBef>
          <a:spcPct val="0"/>
        </a:spcBef>
        <a:buNone/>
        <a:defRPr sz="879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086" indent="-457086" algn="l" defTabSz="1828343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599" kern="1200">
          <a:solidFill>
            <a:schemeClr val="tx1"/>
          </a:solidFill>
          <a:latin typeface="+mn-lt"/>
          <a:ea typeface="+mn-ea"/>
          <a:cs typeface="+mn-cs"/>
        </a:defRPr>
      </a:lvl1pPr>
      <a:lvl2pPr marL="1371257" indent="-457086" algn="l" defTabSz="182834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799" kern="1200">
          <a:solidFill>
            <a:schemeClr val="tx1"/>
          </a:solidFill>
          <a:latin typeface="+mn-lt"/>
          <a:ea typeface="+mn-ea"/>
          <a:cs typeface="+mn-cs"/>
        </a:defRPr>
      </a:lvl2pPr>
      <a:lvl3pPr marL="2285429" indent="-457086" algn="l" defTabSz="182834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999" kern="1200">
          <a:solidFill>
            <a:schemeClr val="tx1"/>
          </a:solidFill>
          <a:latin typeface="+mn-lt"/>
          <a:ea typeface="+mn-ea"/>
          <a:cs typeface="+mn-cs"/>
        </a:defRPr>
      </a:lvl3pPr>
      <a:lvl4pPr marL="3199600" indent="-457086" algn="l" defTabSz="182834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599" kern="1200">
          <a:solidFill>
            <a:schemeClr val="tx1"/>
          </a:solidFill>
          <a:latin typeface="+mn-lt"/>
          <a:ea typeface="+mn-ea"/>
          <a:cs typeface="+mn-cs"/>
        </a:defRPr>
      </a:lvl4pPr>
      <a:lvl5pPr marL="4113771" indent="-457086" algn="l" defTabSz="182834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599" kern="1200">
          <a:solidFill>
            <a:schemeClr val="tx1"/>
          </a:solidFill>
          <a:latin typeface="+mn-lt"/>
          <a:ea typeface="+mn-ea"/>
          <a:cs typeface="+mn-cs"/>
        </a:defRPr>
      </a:lvl5pPr>
      <a:lvl6pPr marL="5027943" indent="-457086" algn="l" defTabSz="182834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599" kern="1200">
          <a:solidFill>
            <a:schemeClr val="tx1"/>
          </a:solidFill>
          <a:latin typeface="+mn-lt"/>
          <a:ea typeface="+mn-ea"/>
          <a:cs typeface="+mn-cs"/>
        </a:defRPr>
      </a:lvl6pPr>
      <a:lvl7pPr marL="5942114" indent="-457086" algn="l" defTabSz="182834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599" kern="1200">
          <a:solidFill>
            <a:schemeClr val="tx1"/>
          </a:solidFill>
          <a:latin typeface="+mn-lt"/>
          <a:ea typeface="+mn-ea"/>
          <a:cs typeface="+mn-cs"/>
        </a:defRPr>
      </a:lvl7pPr>
      <a:lvl8pPr marL="6856286" indent="-457086" algn="l" defTabSz="182834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599" kern="1200">
          <a:solidFill>
            <a:schemeClr val="tx1"/>
          </a:solidFill>
          <a:latin typeface="+mn-lt"/>
          <a:ea typeface="+mn-ea"/>
          <a:cs typeface="+mn-cs"/>
        </a:defRPr>
      </a:lvl8pPr>
      <a:lvl9pPr marL="7770457" indent="-457086" algn="l" defTabSz="182834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5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343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1pPr>
      <a:lvl2pPr marL="914171" algn="l" defTabSz="1828343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2pPr>
      <a:lvl3pPr marL="1828343" algn="l" defTabSz="1828343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3pPr>
      <a:lvl4pPr marL="2742514" algn="l" defTabSz="1828343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4pPr>
      <a:lvl5pPr marL="3656686" algn="l" defTabSz="1828343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5pPr>
      <a:lvl6pPr marL="4570857" algn="l" defTabSz="1828343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6pPr>
      <a:lvl7pPr marL="5485028" algn="l" defTabSz="1828343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7pPr>
      <a:lvl8pPr marL="6399200" algn="l" defTabSz="1828343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8pPr>
      <a:lvl9pPr marL="7313371" algn="l" defTabSz="1828343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/><Relationship Id="rId3" Type="http://schemas.openxmlformats.org/officeDocument/2006/relationships/image" Target="../media/vis_slide2_aws.png"/></Relationships>
</file>

<file path=ppt/slides/_rels/slide3.xml.rels><?xml version="1.0" encoding="UTF-8"?>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3" Type="http://schemas.openxmlformats.org/officeDocument/2006/relationships/image" Target="../media/workflows.jpg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20" Type="http://schemas.openxmlformats.org/officeDocument/2006/relationships/image" Target="../media/vis_slide4.png"/></Relationships>
</file>

<file path=ppt/slides/_rels/slide5.xml.rels><?xml version="1.0" encoding="UTF-8"?>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20" Type="http://schemas.openxmlformats.org/officeDocument/2006/relationships/image" Target="../media/vis_slide5.png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/><Relationship Id="rId3" Type="http://schemas.openxmlformats.org/officeDocument/2006/relationships/image" Target="../media/vis_slide6_v2.png"/></Relationships>
</file>

<file path=ppt/slides/_rels/slide7.xml.rels><?xml version="1.0" encoding="UTF-8"?>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20" Type="http://schemas.openxmlformats.org/officeDocument/2006/relationships/image" Target="../media/vis_slide8.png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/><Relationship Id="rId3" Type="http://schemas.openxmlformats.org/officeDocument/2006/relationships/image" Target="../media/activities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B414DC0-B609-DAE0-3A0D-80EB2632D90D}"/>
              </a:ext>
            </a:extLst>
          </p:cNvPr>
          <p:cNvSpPr txBox="1"/>
          <p:nvPr/>
        </p:nvSpPr>
        <p:spPr>
          <a:xfrm>
            <a:off x="14191322" y="5694390"/>
            <a:ext cx="8629857" cy="255454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8000" b="1" dirty="0">
                <a:solidFill>
                  <a:schemeClr val="bg1"/>
                </a:solidFill>
                <a:effectLst/>
                <a:latin typeface="Aptos"/>
                <a:ea typeface="Calibri"/>
                <a:cs typeface="Calibri"/>
              </a:rPr>
              <a:t>RedTo
AI Agentic Penetration Testing</a:t>
            </a:r>
          </a:p>
        </p:txBody>
      </p:sp>
    </p:spTree>
    <p:extLst>
      <p:ext uri="{BB962C8B-B14F-4D97-AF65-F5344CB8AC3E}">
        <p14:creationId xmlns:p14="http://schemas.microsoft.com/office/powerpoint/2010/main" val="3470486059"/>
      </p:ext>
    </p:extLst>
  </p:cSld>
  <p:clrMapOvr>
    <a:masterClrMapping/>
  </p:clrMapOvr>
  <p:transition spd="slow">
    <p:push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Bar"/>
          <p:cNvSpPr txBox="1"/>
          <p:nvPr/>
        </p:nvSpPr>
        <p:spPr>
          <a:xfrm>
            <a:off x="689156" y="790239"/>
            <a:ext cx="20229906" cy="769441"/>
          </a:xfrm>
          <a:prstGeom prst="rect">
            <a:avLst/>
          </a:prstGeom>
          <a:solidFill>
            <a:srgbClr val="4F7B24"/>
          </a:solidFill>
        </p:spPr>
        <p:txBody>
          <a:bodyPr wrap="square" lIns="91440" tIns="45720" rIns="91440" bIns="45720" rtlCol="0" anchor="ctr">
            <a:spAutoFit/>
          </a:bodyPr>
          <a:lstStyle/>
          <a:p>
            <a:r>
              <a:rPr lang="en-US" sz="4400" b="1" dirty="0">
                <a:solidFill>
                  <a:srgbClr val="FFFFFF"/>
                </a:solidFill>
                <a:latin typeface="Aptos"/>
              </a:rPr>
              <a:t>RedTo — Project Overview</a:t>
            </a:r>
          </a:p>
        </p:txBody>
      </p:sp>
      <p:sp>
        <p:nvSpPr>
          <p:cNvPr id="3" name="SubLabel"/>
          <p:cNvSpPr txBox="1"/>
          <p:nvPr/>
        </p:nvSpPr>
        <p:spPr>
          <a:xfrm>
            <a:off x="689156" y="1750000"/>
            <a:ext cx="22999494" cy="480000"/>
          </a:xfrm>
          <a:prstGeom prst="rect">
            <a:avLst/>
          </a:prstGeom>
          <a:solidFill>
            <a:srgbClr val="A4C637"/>
          </a:solidFill>
        </p:spPr>
        <p:txBody>
          <a:bodyPr wrap="square" lIns="91440" tIns="45720" rIns="91440" bIns="45720" rtlCol="0" anchor="ctr">
            <a:spAutoFit/>
          </a:bodyPr>
          <a:lstStyle/>
          <a:p>
            <a:r>
              <a:rPr lang="en-US" sz="2200" b="1" dirty="0">
                <a:solidFill>
                  <a:srgbClr val="FFFFFF"/>
                </a:solidFill>
                <a:latin typeface="Cambria"/>
              </a:rPr>
              <a:t>RedTo deployed on AWS Cloud → attacks Wing Bank On-Premise internet-facing services (Website, iBanking, Mobile API, Network) via Internet</a:t>
            </a:r>
          </a:p>
        </p:txBody>
      </p:sp>
      <p:pic>
        <p:nvPicPr>
          <p:cNvPr id="4" name="AWSArchite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156" y="2380000"/>
            <a:ext cx="22999494" cy="11000000"/>
          </a:xfrm>
          <a:prstGeom prst="rect">
            <a:avLst/>
          </a:prstGeom>
        </p:spPr>
      </p:pic>
    </p:spTree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Bar"/>
          <p:cNvSpPr txBox="1"/>
          <p:nvPr/>
        </p:nvSpPr>
        <p:spPr>
          <a:xfrm>
            <a:off x="689156" y="790239"/>
            <a:ext cx="20229906" cy="769441"/>
          </a:xfrm>
          <a:prstGeom prst="rect">
            <a:avLst/>
          </a:prstGeom>
          <a:solidFill>
            <a:srgbClr val="4F7B24"/>
          </a:solidFill>
        </p:spPr>
        <p:txBody>
          <a:bodyPr wrap="square" lIns="91440" tIns="45720" rIns="91440" bIns="45720" rtlCol="0" anchor="ctr">
            <a:spAutoFit/>
          </a:bodyPr>
          <a:lstStyle/>
          <a:p>
            <a:r>
              <a:rPr lang="en-US" sz="4400" b="1" dirty="0">
                <a:solidFill>
                  <a:srgbClr val="FFFFFF"/>
                </a:solidFill>
                <a:latin typeface="Aptos"/>
              </a:rPr>
              <a:t>AI Agentic Workflows Platform</a:t>
            </a:r>
          </a:p>
        </p:txBody>
      </p:sp>
      <p:sp>
        <p:nvSpPr>
          <p:cNvPr id="3" name="SubLabel"/>
          <p:cNvSpPr txBox="1"/>
          <p:nvPr/>
        </p:nvSpPr>
        <p:spPr>
          <a:xfrm>
            <a:off x="689156" y="1750000"/>
            <a:ext cx="22859794" cy="500000"/>
          </a:xfrm>
          <a:prstGeom prst="rect">
            <a:avLst/>
          </a:prstGeom>
          <a:solidFill>
            <a:srgbClr val="A4C637"/>
          </a:solidFill>
        </p:spPr>
        <p:txBody>
          <a:bodyPr wrap="square" lIns="91440" tIns="45720" rIns="91440" bIns="45720" rtlCol="0" anchor="ctr">
            <a:spAutoFit/>
          </a:bodyPr>
          <a:lstStyle/>
          <a:p>
            <a:r>
              <a:rPr lang="en-US" sz="2400" b="1" dirty="0">
                <a:solidFill>
                  <a:srgbClr val="FFFFFF"/>
                </a:solidFill>
                <a:latin typeface="Cambria"/>
              </a:rPr>
              <a:t>Published workflows powering RedTo — Network Pentest (13 skills · 60 steps) and Black-Box Web Testing (17 skills · 94 steps) selected for Phase 1</a:t>
            </a:r>
          </a:p>
        </p:txBody>
      </p:sp>
      <p:pic>
        <p:nvPicPr>
          <p:cNvPr id="4" name="WorkflowsScreensh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156" y="2400000"/>
            <a:ext cx="22859794" cy="10800000"/>
          </a:xfrm>
          <a:prstGeom prst="rect">
            <a:avLst/>
          </a:prstGeom>
        </p:spPr>
      </p:pic>
    </p:spTree>
  </p:cSld>
  <p:clrMapOvr>
    <a:masterClrMapping/>
  </p:clrMapOvr>
  <p:transition spd="slow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Bar"/>
          <p:cNvSpPr txBox="1"/>
          <p:nvPr/>
        </p:nvSpPr>
        <p:spPr>
          <a:xfrm>
            <a:off x="689156" y="790239"/>
            <a:ext cx="20229906" cy="769441"/>
          </a:xfrm>
          <a:prstGeom prst="rect">
            <a:avLst/>
          </a:prstGeom>
          <a:solidFill>
            <a:srgbClr val="4F7B24"/>
          </a:solidFill>
        </p:spPr>
        <p:txBody>
          <a:bodyPr wrap="square" lIns="91440" tIns="45720" rIns="91440" bIns="45720" rtlCol="0" anchor="ctr">
            <a:spAutoFit/>
          </a:bodyPr>
          <a:lstStyle/>
          <a:p>
            <a:r>
              <a:rPr lang="en-US" sz="4400" b="1" dirty="0">
                <a:solidFill>
                  <a:srgbClr val="FFFFFF"/>
                </a:solidFill>
                <a:latin typeface="Aptos" panose="020B0004020202020204" pitchFamily="34" charset="0"/>
              </a:rPr>
              <a:t>Network Penetration Testing Workflow</a:t>
            </a:r>
          </a:p>
        </p:txBody>
      </p:sp>
      <p:sp>
        <p:nvSpPr>
          <p:cNvPr id="5" name="SectionLabel"/>
          <p:cNvSpPr txBox="1"/>
          <p:nvPr/>
        </p:nvSpPr>
        <p:spPr>
          <a:xfrm>
            <a:off x="1386192" y="2300000"/>
            <a:ext cx="22000000" cy="584775"/>
          </a:xfrm>
          <a:prstGeom prst="rect">
            <a:avLst/>
          </a:prstGeom>
          <a:solidFill>
            <a:srgbClr val="A4C637"/>
          </a:solidFill>
        </p:spPr>
        <p:txBody>
          <a:bodyPr wrap="square">
            <a:spAutoFit/>
          </a:bodyPr>
          <a:lstStyle/>
          <a:p>
            <a:r>
              <a:rPr lang="en-US" sz="3000" b="1" dirty="0">
                <a:solidFill>
                  <a:srgbClr val="FFFFFF"/>
                </a:solidFill>
                <a:latin typeface="Cambria" panose="02040503050406030204" pitchFamily="18" charset="0"/>
              </a:rPr>
              <a:t>13 Skills · 60 Steps — End-to-End Network Attack Simulation</a:t>
            </a:r>
          </a:p>
        </p:txBody>
      </p:sp>
      <p:sp>
        <p:nvSpPr>
          <p:cNvPr id="6" name="BulletBox"/>
          <p:cNvSpPr txBox="1"/>
          <p:nvPr/>
        </p:nvSpPr>
        <p:spPr>
          <a:xfrm>
            <a:off x="1386192" y="3100000"/>
            <a:ext cx="22000000" cy="950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latin typeface="Cambria" panose="02040503050406030204" pitchFamily="18" charset="0"/>
                <a:ea typeface="Cambria"/>
              </a:rPr>
              <a:t>Phase 1 — External Reconnaissance: domain enumeration, OSINT, asset discovery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latin typeface="Cambria" panose="02040503050406030204" pitchFamily="18" charset="0"/>
                <a:ea typeface="Cambria"/>
              </a:rPr>
              <a:t>Phase 2 — Scanning &amp; Fingerprinting: port scanning, service detection, OS fingerprinting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latin typeface="Cambria" panose="02040503050406030204" pitchFamily="18" charset="0"/>
                <a:ea typeface="Cambria"/>
              </a:rPr>
              <a:t>Phase 3 — Vulnerability Analysis: CVE mapping, misconfiguration detection, exposure analysis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latin typeface="Cambria" panose="02040503050406030204" pitchFamily="18" charset="0"/>
                <a:ea typeface="Cambria"/>
              </a:rPr>
              <a:t>Phase 4 — Exploitation: safe proof-of-concept exploit validation with CVSS scoring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latin typeface="Cambria" panose="02040503050406030204" pitchFamily="18" charset="0"/>
                <a:ea typeface="Cambria"/>
              </a:rPr>
              <a:t>Phase 5 — Privilege Escalation: lateral movement simulation and credential access testing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latin typeface="Cambria" panose="02040503050406030204" pitchFamily="18" charset="0"/>
                <a:ea typeface="Cambria"/>
              </a:rPr>
              <a:t>Phase 6 — Reporting: executive summary + technical findings with remediation guidance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latin typeface="Cambria" panose="02040503050406030204" pitchFamily="18" charset="0"/>
                <a:ea typeface="Cambria"/>
              </a:rPr>
              <a:t>Covers: firewall rules, open ports, protocol weaknesses, VPN exposure, DNS/subdomain leaks</a:t>
            </a:r>
          </a:p>
        </p:txBody>
      </p:sp>
      <p:pic xmlns:a="http://schemas.openxmlformats.org/drawingml/2006/main" xmlns:r="http://schemas.openxmlformats.org/officeDocument/2006/relationships" xmlns:p="http://schemas.openxmlformats.org/presentationml/2006/main">
        <p:nvPicPr>
          <p:cNvPr id="201" name="Vis_slide4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89156" y="6800000"/>
            <a:ext cx="22999494" cy="6400000"/>
          </a:xfrm>
          <a:prstGeom prst="rect">
            <a:avLst/>
          </a:prstGeom>
        </p:spPr>
      </p:pic>
    </p:spTree>
  </p:cSld>
  <p:clrMapOvr>
    <a:masterClrMapping/>
  </p:clrMapOvr>
  <p:transition spd="slow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Bar"/>
          <p:cNvSpPr txBox="1"/>
          <p:nvPr/>
        </p:nvSpPr>
        <p:spPr>
          <a:xfrm>
            <a:off x="689156" y="790239"/>
            <a:ext cx="20229906" cy="769441"/>
          </a:xfrm>
          <a:prstGeom prst="rect">
            <a:avLst/>
          </a:prstGeom>
          <a:solidFill>
            <a:srgbClr val="4F7B24"/>
          </a:solidFill>
        </p:spPr>
        <p:txBody>
          <a:bodyPr wrap="square" lIns="91440" tIns="45720" rIns="91440" bIns="45720" rtlCol="0" anchor="ctr">
            <a:spAutoFit/>
          </a:bodyPr>
          <a:lstStyle/>
          <a:p>
            <a:r>
              <a:rPr lang="en-US" sz="4400" b="1" dirty="0">
                <a:solidFill>
                  <a:srgbClr val="FFFFFF"/>
                </a:solidFill>
                <a:latin typeface="Aptos"/>
              </a:rPr>
              <a:t>Black-Box Web Application Penetration Testing</a:t>
            </a:r>
          </a:p>
        </p:txBody>
      </p:sp>
      <p:sp>
        <p:nvSpPr>
          <p:cNvPr id="10" name="L0"/>
          <p:cNvSpPr txBox="1"/>
          <p:nvPr/>
        </p:nvSpPr>
        <p:spPr>
          <a:xfrm>
            <a:off x="1386192" y="2200000"/>
            <a:ext cx="7000000" cy="500000"/>
          </a:xfrm>
          <a:prstGeom prst="rect">
            <a:avLst/>
          </a:prstGeom>
          <a:solidFill>
            <a:srgbClr val="A4C637"/>
          </a:solidFill>
        </p:spPr>
        <p:txBody>
          <a:bodyPr wrap="square">
            <a:spAutoFit/>
          </a:bodyPr>
          <a:lstStyle/>
          <a:p>
            <a:r>
              <a:rPr lang="en-US" sz="2600" b="1" dirty="0">
                <a:solidFill>
                  <a:srgbClr val="FFFFFF"/>
                </a:solidFill>
                <a:latin typeface="Cambria"/>
              </a:rPr>
              <a:t>Reconnaissance &amp; Discovery</a:t>
            </a:r>
          </a:p>
        </p:txBody>
      </p:sp>
      <p:sp>
        <p:nvSpPr>
          <p:cNvPr id="11" name="B0"/>
          <p:cNvSpPr txBox="1"/>
          <p:nvPr/>
        </p:nvSpPr>
        <p:spPr>
          <a:xfrm>
            <a:off x="1386192" y="2800000"/>
            <a:ext cx="7000000" cy="950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300" dirty="0">
                <a:latin typeface="Cambria" panose="02040503050406030204" pitchFamily="18" charset="0"/>
                <a:ea typeface="Cambria"/>
              </a:rPr>
              <a:t>Passive &amp; active recon — target profiling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300" dirty="0">
                <a:latin typeface="Cambria" panose="02040503050406030204" pitchFamily="18" charset="0"/>
                <a:ea typeface="Cambria"/>
              </a:rPr>
              <a:t>Technology fingerprinting and version detection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300" dirty="0">
                <a:latin typeface="Cambria" panose="02040503050406030204" pitchFamily="18" charset="0"/>
                <a:ea typeface="Cambria"/>
              </a:rPr>
              <a:t>Attack surface mapping — endpoints, forms, APIs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300" dirty="0">
                <a:latin typeface="Cambria" panose="02040503050406030204" pitchFamily="18" charset="0"/>
                <a:ea typeface="Cambria"/>
              </a:rPr>
              <a:t>Authentication surface identification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300" dirty="0">
                <a:latin typeface="Cambria" panose="02040503050406030204" pitchFamily="18" charset="0"/>
                <a:ea typeface="Cambria"/>
              </a:rPr>
              <a:t>Subdomain and directory enumeration</a:t>
            </a:r>
          </a:p>
        </p:txBody>
      </p:sp>
      <p:sp>
        <p:nvSpPr>
          <p:cNvPr id="12" name="L1"/>
          <p:cNvSpPr txBox="1"/>
          <p:nvPr/>
        </p:nvSpPr>
        <p:spPr>
          <a:xfrm>
            <a:off x="8900000" y="2200000"/>
            <a:ext cx="7000000" cy="500000"/>
          </a:xfrm>
          <a:prstGeom prst="rect">
            <a:avLst/>
          </a:prstGeom>
          <a:solidFill>
            <a:srgbClr val="4F7B24"/>
          </a:solidFill>
        </p:spPr>
        <p:txBody>
          <a:bodyPr wrap="square">
            <a:spAutoFit/>
          </a:bodyPr>
          <a:lstStyle/>
          <a:p>
            <a:r>
              <a:rPr lang="en-US" sz="2600" b="1" dirty="0">
                <a:solidFill>
                  <a:srgbClr val="FFFFFF"/>
                </a:solidFill>
                <a:latin typeface="Cambria"/>
              </a:rPr>
              <a:t>Attack &amp; Exploitation</a:t>
            </a:r>
          </a:p>
        </p:txBody>
      </p:sp>
      <p:sp>
        <p:nvSpPr>
          <p:cNvPr id="13" name="B1"/>
          <p:cNvSpPr txBox="1"/>
          <p:nvPr/>
        </p:nvSpPr>
        <p:spPr>
          <a:xfrm>
            <a:off x="8900000" y="2800000"/>
            <a:ext cx="7000000" cy="950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300" dirty="0">
                <a:latin typeface="Cambria" panose="02040503050406030204" pitchFamily="18" charset="0"/>
                <a:ea typeface="Cambria"/>
              </a:rPr>
              <a:t>OWASP Top 10 — injection, XSS, SSRF, IDOR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300" dirty="0">
                <a:latin typeface="Cambria" panose="02040503050406030204" pitchFamily="18" charset="0"/>
                <a:ea typeface="Cambria"/>
              </a:rPr>
              <a:t>Authentication bypass and session hijacking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300" dirty="0">
                <a:latin typeface="Cambria" panose="02040503050406030204" pitchFamily="18" charset="0"/>
                <a:ea typeface="Cambria"/>
              </a:rPr>
              <a:t>Business logic flaw testing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300" dirty="0">
                <a:latin typeface="Cambria" panose="02040503050406030204" pitchFamily="18" charset="0"/>
                <a:ea typeface="Cambria"/>
              </a:rPr>
              <a:t>API abuse — broken auth, mass assignment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300" dirty="0">
                <a:latin typeface="Cambria" panose="02040503050406030204" pitchFamily="18" charset="0"/>
                <a:ea typeface="Cambria"/>
              </a:rPr>
              <a:t>Rate limiting and abuse scenario testing</a:t>
            </a:r>
          </a:p>
        </p:txBody>
      </p:sp>
      <p:sp>
        <p:nvSpPr>
          <p:cNvPr id="14" name="L2"/>
          <p:cNvSpPr txBox="1"/>
          <p:nvPr/>
        </p:nvSpPr>
        <p:spPr>
          <a:xfrm>
            <a:off x="16414808" y="2200000"/>
            <a:ext cx="7000000" cy="500000"/>
          </a:xfrm>
          <a:prstGeom prst="rect">
            <a:avLst/>
          </a:prstGeom>
          <a:solidFill>
            <a:srgbClr val="6B9B24"/>
          </a:solidFill>
        </p:spPr>
        <p:txBody>
          <a:bodyPr wrap="square">
            <a:spAutoFit/>
          </a:bodyPr>
          <a:lstStyle/>
          <a:p>
            <a:r>
              <a:rPr lang="en-US" sz="2600" b="1" dirty="0">
                <a:solidFill>
                  <a:srgbClr val="FFFFFF"/>
                </a:solidFill>
                <a:latin typeface="Cambria"/>
              </a:rPr>
              <a:t>Validation &amp; Reporting</a:t>
            </a:r>
          </a:p>
        </p:txBody>
      </p:sp>
      <p:sp>
        <p:nvSpPr>
          <p:cNvPr id="15" name="B2"/>
          <p:cNvSpPr txBox="1"/>
          <p:nvPr/>
        </p:nvSpPr>
        <p:spPr>
          <a:xfrm>
            <a:off x="16414808" y="2800000"/>
            <a:ext cx="7000000" cy="950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300" dirty="0">
                <a:latin typeface="Cambria" panose="02040503050406030204" pitchFamily="18" charset="0"/>
                <a:ea typeface="Cambria"/>
              </a:rPr>
              <a:t>Proof-of-concept exploit validation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300" dirty="0">
                <a:latin typeface="Cambria" panose="02040503050406030204" pitchFamily="18" charset="0"/>
                <a:ea typeface="Cambria"/>
              </a:rPr>
              <a:t>CVSS-scored findings with CWE mapping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300" dirty="0">
                <a:latin typeface="Cambria" panose="02040503050406030204" pitchFamily="18" charset="0"/>
                <a:ea typeface="Cambria"/>
              </a:rPr>
              <a:t>False-positive elimination via AI triage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300" dirty="0">
                <a:latin typeface="Cambria" panose="02040503050406030204" pitchFamily="18" charset="0"/>
                <a:ea typeface="Cambria"/>
              </a:rPr>
              <a:t>Executive report + technical evidence package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300" dirty="0">
                <a:latin typeface="Cambria" panose="02040503050406030204" pitchFamily="18" charset="0"/>
                <a:ea typeface="Cambria"/>
              </a:rPr>
              <a:t>Remediation recommendations per finding</a:t>
            </a:r>
          </a:p>
        </p:txBody>
      </p:sp>
      <p:pic xmlns:a="http://schemas.openxmlformats.org/drawingml/2006/main" xmlns:r="http://schemas.openxmlformats.org/officeDocument/2006/relationships" xmlns:p="http://schemas.openxmlformats.org/presentationml/2006/main">
        <p:nvPicPr>
          <p:cNvPr id="201" name="Vis_slide5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89156" y="7000000"/>
            <a:ext cx="22999494" cy="6200000"/>
          </a:xfrm>
          <a:prstGeom prst="rect">
            <a:avLst/>
          </a:prstGeom>
        </p:spPr>
      </p:pic>
    </p:spTree>
  </p:cSld>
  <p:clrMapOvr>
    <a:masterClrMapping/>
  </p:clrMapOvr>
  <p:transition spd="slow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Bar"/>
          <p:cNvSpPr txBox="1"/>
          <p:nvPr/>
        </p:nvSpPr>
        <p:spPr>
          <a:xfrm>
            <a:off x="689156" y="790239"/>
            <a:ext cx="20229906" cy="769441"/>
          </a:xfrm>
          <a:prstGeom prst="rect">
            <a:avLst/>
          </a:prstGeom>
          <a:solidFill>
            <a:srgbClr val="4F7B24"/>
          </a:solidFill>
        </p:spPr>
        <p:txBody>
          <a:bodyPr wrap="square" lIns="91440" tIns="45720" rIns="91440" bIns="45720" rtlCol="0" anchor="ctr">
            <a:spAutoFit/>
          </a:bodyPr>
          <a:lstStyle/>
          <a:p>
            <a:r>
              <a:rPr lang="en-US" sz="4400" b="1" dirty="0">
                <a:solidFill>
                  <a:srgbClr val="FFFFFF"/>
                </a:solidFill>
                <a:latin typeface="Aptos"/>
              </a:rPr>
              <a:t>Key Benefits &amp; Execution Governance</a:t>
            </a:r>
          </a:p>
        </p:txBody>
      </p:sp>
      <p:pic>
        <p:nvPicPr>
          <p:cNvPr id="3" name="BenefitsVisua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156" y="1750000"/>
            <a:ext cx="22999494" cy="11700000"/>
          </a:xfrm>
          <a:prstGeom prst="rect">
            <a:avLst/>
          </a:prstGeom>
        </p:spPr>
      </p:pic>
    </p:spTree>
  </p:cSld>
  <p:clrMapOvr>
    <a:masterClrMapping/>
  </p:clrMapOvr>
  <p:transition spd="slow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Bar"/>
          <p:cNvSpPr txBox="1"/>
          <p:nvPr/>
        </p:nvSpPr>
        <p:spPr>
          <a:xfrm>
            <a:off x="689156" y="790239"/>
            <a:ext cx="20229906" cy="769441"/>
          </a:xfrm>
          <a:prstGeom prst="rect">
            <a:avLst/>
          </a:prstGeom>
          <a:solidFill>
            <a:srgbClr val="4F7B24"/>
          </a:solidFill>
        </p:spPr>
        <p:txBody>
          <a:bodyPr wrap="square" lIns="91440" tIns="45720" rIns="91440" bIns="45720" rtlCol="0" anchor="ctr">
            <a:spAutoFit/>
          </a:bodyPr>
          <a:lstStyle/>
          <a:p>
            <a:r>
              <a:rPr lang="en-US" sz="4400" b="1" dirty="0">
                <a:solidFill>
                  <a:srgbClr val="FFFFFF"/>
                </a:solidFill>
                <a:latin typeface="Aptos" panose="020B0004020202020204" pitchFamily="34" charset="0"/>
              </a:rPr>
              <a:t>Implementation Roadmap &amp; Next Steps</a:t>
            </a:r>
          </a:p>
        </p:txBody>
      </p:sp>
      <p:sp>
        <p:nvSpPr>
          <p:cNvPr id="5" name="SectionLabel"/>
          <p:cNvSpPr txBox="1"/>
          <p:nvPr/>
        </p:nvSpPr>
        <p:spPr>
          <a:xfrm>
            <a:off x="1386192" y="2300000"/>
            <a:ext cx="22000000" cy="584775"/>
          </a:xfrm>
          <a:prstGeom prst="rect">
            <a:avLst/>
          </a:prstGeom>
          <a:solidFill>
            <a:srgbClr val="A4C637"/>
          </a:solidFill>
        </p:spPr>
        <p:txBody>
          <a:bodyPr wrap="square">
            <a:spAutoFit/>
          </a:bodyPr>
          <a:lstStyle/>
          <a:p>
            <a:r>
              <a:rPr lang="en-US" sz="3000" b="1" dirty="0">
                <a:solidFill>
                  <a:srgbClr val="FFFFFF"/>
                </a:solidFill>
                <a:latin typeface="Cambria" panose="02040503050406030204" pitchFamily="18" charset="0"/>
              </a:rPr>
              <a:t>Phase 1 Execution Plan — RedTo AI Agentic Pentest</a:t>
            </a:r>
          </a:p>
        </p:txBody>
      </p:sp>
      <p:sp>
        <p:nvSpPr>
          <p:cNvPr id="6" name="BulletBox"/>
          <p:cNvSpPr txBox="1"/>
          <p:nvPr/>
        </p:nvSpPr>
        <p:spPr>
          <a:xfrm>
            <a:off x="1386192" y="3100000"/>
            <a:ext cx="22000000" cy="950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latin typeface="Cambria" panose="02040503050406030204" pitchFamily="18" charset="0"/>
                <a:ea typeface="Cambria"/>
              </a:rPr>
              <a:t>Week 1 — Environment Setup: configure target scope, whitelist IPs, set execution permissions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latin typeface="Cambria" panose="02040503050406030204" pitchFamily="18" charset="0"/>
                <a:ea typeface="Cambria"/>
              </a:rPr>
              <a:t>Week 2 — Dry Run: execute Network Pentest workflow against staging environment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latin typeface="Cambria" panose="02040503050406030204" pitchFamily="18" charset="0"/>
                <a:ea typeface="Cambria"/>
              </a:rPr>
              <a:t>Week 3 — Production Run 1: Network Penetration Testing — review and triage findings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latin typeface="Cambria" panose="02040503050406030204" pitchFamily="18" charset="0"/>
                <a:ea typeface="Cambria"/>
              </a:rPr>
              <a:t>Week 4 — Production Run 2: Black-Box Web Application Pentest — full OWASP coverage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latin typeface="Cambria" panose="02040503050406030204" pitchFamily="18" charset="0"/>
                <a:ea typeface="Cambria"/>
              </a:rPr>
              <a:t>Week 5 — Findings Review: joint session with security and dev teams on remediation priorities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latin typeface="Cambria" panose="02040503050406030204" pitchFamily="18" charset="0"/>
                <a:ea typeface="Cambria"/>
              </a:rPr>
              <a:t>Week 6 — Remediation Validation: re-run targeted skills against patched vulnerabilities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latin typeface="Cambria" panose="02040503050406030204" pitchFamily="18" charset="0"/>
                <a:ea typeface="Cambria"/>
              </a:rPr>
              <a:t>Week 7 — Executive Report: deliver final report with CVSS scores, risk ratings, and roadmap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latin typeface="Cambria" panose="02040503050406030204" pitchFamily="18" charset="0"/>
                <a:ea typeface="Cambria"/>
              </a:rPr>
              <a:t>Week 8 — Phase 2 Planning: scope IAM assessment and Gray-Box web testing for next cycle</a:t>
            </a:r>
          </a:p>
        </p:txBody>
      </p:sp>
      <p:pic xmlns:a="http://schemas.openxmlformats.org/drawingml/2006/main" xmlns:r="http://schemas.openxmlformats.org/officeDocument/2006/relationships" xmlns:p="http://schemas.openxmlformats.org/presentationml/2006/main">
        <p:nvPicPr>
          <p:cNvPr id="201" name="Vis_roadmap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89156" y="7200000"/>
            <a:ext cx="22999494" cy="6000000"/>
          </a:xfrm>
          <a:prstGeom prst="rect">
            <a:avLst/>
          </a:prstGeom>
        </p:spPr>
      </p:pic>
    </p:spTree>
  </p:cSld>
  <p:clrMapOvr>
    <a:masterClrMapping/>
  </p:clrMapOvr>
  <p:transition spd="slow">
    <p:push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EC38918-CF01-52C2-956C-FDDA26DEC429}"/>
              </a:ext>
            </a:extLst>
          </p:cNvPr>
          <p:cNvSpPr txBox="1"/>
          <p:nvPr/>
        </p:nvSpPr>
        <p:spPr>
          <a:xfrm>
            <a:off x="8043551" y="6069461"/>
            <a:ext cx="8290546" cy="120032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7200" b="1" dirty="0">
                <a:solidFill>
                  <a:schemeClr val="bg1"/>
                </a:solidFill>
                <a:latin typeface="Aptos"/>
              </a:rPr>
              <a:t>Thank You!</a:t>
            </a:r>
            <a:endParaRPr lang="ru-RU" sz="7200" b="1">
              <a:solidFill>
                <a:schemeClr val="bg1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3205280313"/>
      </p:ext>
    </p:extLst>
  </p:cSld>
  <p:clrMapOvr>
    <a:masterClrMapping/>
  </p:clrMapOvr>
  <p:transition spd="slow">
    <p:push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Bar"/>
          <p:cNvSpPr txBox="1"/>
          <p:nvPr/>
        </p:nvSpPr>
        <p:spPr>
          <a:xfrm>
            <a:off x="689156" y="790239"/>
            <a:ext cx="20229906" cy="769441"/>
          </a:xfrm>
          <a:prstGeom prst="rect">
            <a:avLst/>
          </a:prstGeom>
          <a:solidFill>
            <a:srgbClr val="4F7B24"/>
          </a:solidFill>
        </p:spPr>
        <p:txBody>
          <a:bodyPr wrap="square" lIns="91440" tIns="45720" rIns="91440" bIns="45720" rtlCol="0" anchor="ctr">
            <a:spAutoFit/>
          </a:bodyPr>
          <a:lstStyle/>
          <a:p>
            <a:r>
              <a:rPr lang="en-US" sz="4400" b="1" dirty="0">
                <a:solidFill>
                  <a:srgbClr val="FFFFFF"/>
                </a:solidFill>
                <a:latin typeface="Aptos"/>
              </a:rPr>
              <a:t>Sample Activity — Black-Box Web Pentest in Action</a:t>
            </a:r>
          </a:p>
        </p:txBody>
      </p:sp>
      <p:sp>
        <p:nvSpPr>
          <p:cNvPr id="3" name="Step3Box"/>
          <p:cNvSpPr txBox="1"/>
          <p:nvPr/>
        </p:nvSpPr>
        <p:spPr>
          <a:xfrm>
            <a:off x="689156" y="1750000"/>
            <a:ext cx="7500000" cy="480000"/>
          </a:xfrm>
          <a:prstGeom prst="rect">
            <a:avLst/>
          </a:prstGeom>
          <a:solidFill>
            <a:srgbClr val="4F7B24"/>
          </a:solidFill>
        </p:spPr>
        <p:txBody>
          <a:bodyPr wrap="square" lIns="91440" tIns="45720" rIns="91440" bIns="45720" rtlCol="0" anchor="ctr">
            <a:spAutoFit/>
          </a:bodyPr>
          <a:lstStyle/>
          <a:p>
            <a:r>
              <a:rPr lang="en-US" sz="2000" b="1" dirty="0">
                <a:solidFill>
                  <a:srgbClr val="FFFFFF"/>
                </a:solidFill>
                <a:latin typeface="Cambria"/>
              </a:rPr>
              <a:t>Step 3: SQL Injection Testing</a:t>
            </a:r>
          </a:p>
        </p:txBody>
      </p:sp>
      <p:sp>
        <p:nvSpPr>
          <p:cNvPr id="4" name="Step4Box"/>
          <p:cNvSpPr txBox="1"/>
          <p:nvPr/>
        </p:nvSpPr>
        <p:spPr>
          <a:xfrm>
            <a:off x="8389156" y="1750000"/>
            <a:ext cx="7500000" cy="480000"/>
          </a:xfrm>
          <a:prstGeom prst="rect">
            <a:avLst/>
          </a:prstGeom>
          <a:solidFill>
            <a:srgbClr val="A4C637"/>
          </a:solidFill>
        </p:spPr>
        <p:txBody>
          <a:bodyPr wrap="square" lIns="91440" tIns="45720" rIns="91440" bIns="45720" rtlCol="0" anchor="ctr">
            <a:spAutoFit/>
          </a:bodyPr>
          <a:lstStyle/>
          <a:p>
            <a:r>
              <a:rPr lang="en-US" sz="2000" b="1" dirty="0">
                <a:solidFill>
                  <a:srgbClr val="FFFFFF"/>
                </a:solidFill>
                <a:latin typeface="Cambria"/>
              </a:rPr>
              <a:t>Step 4: SQLMap Exploitation</a:t>
            </a:r>
          </a:p>
        </p:txBody>
      </p:sp>
      <p:sp>
        <p:nvSpPr>
          <p:cNvPr id="5" name="Step5Box"/>
          <p:cNvSpPr txBox="1"/>
          <p:nvPr/>
        </p:nvSpPr>
        <p:spPr>
          <a:xfrm>
            <a:off x="16089156" y="1750000"/>
            <a:ext cx="7459794" cy="480000"/>
          </a:xfrm>
          <a:prstGeom prst="rect">
            <a:avLst/>
          </a:prstGeom>
          <a:solidFill>
            <a:srgbClr val="3A6B10"/>
          </a:solidFill>
        </p:spPr>
        <p:txBody>
          <a:bodyPr wrap="square" lIns="91440" tIns="45720" rIns="91440" bIns="45720" rtlCol="0" anchor="ctr">
            <a:spAutoFit/>
          </a:bodyPr>
          <a:lstStyle/>
          <a:p>
            <a:r>
              <a:rPr lang="en-US" sz="2000" b="1" dirty="0">
                <a:solidFill>
                  <a:srgbClr val="FFFFFF"/>
                </a:solidFill>
                <a:latin typeface="Cambria"/>
              </a:rPr>
              <a:t>Step 5: XSS Testing</a:t>
            </a:r>
          </a:p>
        </p:txBody>
      </p:sp>
      <p:pic>
        <p:nvPicPr>
          <p:cNvPr id="6" name="ActivitiesScreensh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156" y="2400000"/>
            <a:ext cx="22859794" cy="10700000"/>
          </a:xfrm>
          <a:prstGeom prst="rect">
            <a:avLst/>
          </a:prstGeom>
        </p:spPr>
      </p:pic>
    </p:spTree>
  </p:cSld>
  <p:clrMapOvr>
    <a:masterClrMapping/>
  </p:clrMapOvr>
  <p:transition spd="slow">
    <p:push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8224&quot;&gt;&lt;version val=&quot;35308&quot;/&gt;&lt;CPresentation id=&quot;1&quot;&gt;&lt;m_precDefaultNumber&gt;&lt;m_bNumberIsYear val=&quot;1&quot;/&gt;&lt;m_chMinusSymbol&gt;-&lt;/m_chMinusSymbol&gt;&lt;m_chDecimalSymbol17909&gt;,&lt;/m_chDecimalSymbol17909&gt;&lt;m_nGroupingDigits17909 val=&quot;3&quot;/&gt;&lt;m_chGroupingSymbol17909&gt;.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1&quot;/&gt;&lt;m_chDecimalSymbol17909&gt;,&lt;/m_chDecimalSymbol17909&gt;&lt;m_nGroupingDigits17909 val=&quot;3&quot;/&gt;&lt;m_chGroupingSymbol17909&gt;.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#m/%#d/%Y&lt;/m_strFormatTime&gt;&lt;m_yearfmt&gt;&lt;begin val=&quot;0&quot;/&gt;&lt;end val=&quot;0&quot;/&gt;&lt;/m_yearfmt&gt;&lt;/m_precDefaultDate&gt;&lt;m_precDefaultDay&gt;&lt;m_yearfmt&gt;&lt;begin val=&quot;0&quot;/&gt;&lt;end val=&quot;4&quot;/&gt;&lt;/m_yearfmt&gt;&lt;/m_precDefaultDay&gt;&lt;m_precDefaultWeek&gt;&lt;m_yearfmt&gt;&lt;begin val=&quot;0&quot;/&gt;&lt;end val=&quot;4&quot;/&gt;&lt;/m_yearfmt&gt;&lt;/m_precDefaultWeek&gt;&lt;m_precDefaultMonth&gt;&lt;m_yearfmt&gt;&lt;begin val=&quot;0&quot;/&gt;&lt;end val=&quot;4&quot;/&gt;&lt;/m_yearfmt&gt;&lt;/m_precDefaultMonth&gt;&lt;m_precDefaultQuarter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3&quot;&gt;&lt;elem m_fUsage=&quot;9.08075891464070750203E+00&quot;&gt;&lt;m_msothmcolidx val=&quot;0&quot;/&gt;&lt;m_rgb r=&quot;FD&quot; g=&quot;55&quot; b=&quot;6F&quot;/&gt;&lt;/elem&gt;&lt;elem m_fUsage=&quot;1.51556241846057815348E-01&quot;&gt;&lt;m_msothmcolidx val=&quot;0&quot;/&gt;&lt;m_rgb r=&quot;00&quot; g=&quot;77&quot; b=&quot;FF&quot;/&gt;&lt;/elem&gt;&lt;elem m_fUsage=&quot;1.21576654590569363523E-01&quot;&gt;&lt;m_msothmcolidx val=&quot;0&quot;/&gt;&lt;m_rgb r=&quot;C0&quot; g=&quot;00&quot; b=&quot;00&quot;/&gt;&lt;/elem&gt;&lt;/m_vecMRU&gt;&lt;/m_mruColor&gt;&lt;m_eweekdayFirstOfWeek val=&quot;1&quot;/&gt;&lt;m_eweekdayFirstOfWorkweek val=&quot;2&quot;/&gt;&lt;m_eweekdayFirstOfWeekend val=&quot;7&quot;/&gt;&lt;/CPresentation&gt;&lt;/root&gt;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Wing Bank Slid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Wingmall Slid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Wingmall Slid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Coffee Hub Slid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6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?>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?>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?>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?>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4d7232b-86b0-48a3-9d0d-94929d782f41">
      <Terms xmlns="http://schemas.microsoft.com/office/infopath/2007/PartnerControls"/>
    </lcf76f155ced4ddcb4097134ff3c332f>
    <TaxCatchAll xmlns="06775350-dafd-4cc2-8695-b1b1d337732d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1DEC170975F48479087B7960FB5AFF7" ma:contentTypeVersion="14" ma:contentTypeDescription="Create a new document." ma:contentTypeScope="" ma:versionID="f5a9a2b6ab38fff1d95fe2a317a185d1">
  <xsd:schema xmlns:xsd="http://www.w3.org/2001/XMLSchema" xmlns:xs="http://www.w3.org/2001/XMLSchema" xmlns:p="http://schemas.microsoft.com/office/2006/metadata/properties" xmlns:ns2="c4d7232b-86b0-48a3-9d0d-94929d782f41" xmlns:ns3="06775350-dafd-4cc2-8695-b1b1d337732d" targetNamespace="http://schemas.microsoft.com/office/2006/metadata/properties" ma:root="true" ma:fieldsID="e036f519fb3534534ffff18b55e924cc" ns2:_="" ns3:_="">
    <xsd:import namespace="c4d7232b-86b0-48a3-9d0d-94929d782f41"/>
    <xsd:import namespace="06775350-dafd-4cc2-8695-b1b1d337732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4d7232b-86b0-48a3-9d0d-94929d782f4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789a326b-00f1-43f3-8346-18a8b6454c6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775350-dafd-4cc2-8695-b1b1d337732d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9" nillable="true" ma:displayName="Taxonomy Catch All Column" ma:hidden="true" ma:list="{d29a1685-af55-4417-963b-687ae301dbea}" ma:internalName="TaxCatchAll" ma:showField="CatchAllData" ma:web="06775350-dafd-4cc2-8695-b1b1d337732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GTBClassification>
  <attrValue xml:space="preserve">Public</attrValue>
  <customPropName>Wing Bank Classification</customPropName>
  <timestamp>10/25/2023 3:53:50 PM</timestamp>
  <userName>WINGMONEY\vibol.ouk</userName>
  <computerName>W1063-VIDOL.WINGMONEY.COM</computerName>
  <guid>{729bc805-ba41-49c9-870d-83425fd18035}</guid>
</GTBClassification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7CF8072-50CC-4D6C-8320-5F05EBFD3175}">
  <ds:schemaRefs>
    <ds:schemaRef ds:uri="http://schemas.microsoft.com/office/2006/documentManagement/types"/>
    <ds:schemaRef ds:uri="c4d7232b-86b0-48a3-9d0d-94929d782f41"/>
    <ds:schemaRef ds:uri="http://schemas.openxmlformats.org/package/2006/metadata/core-properties"/>
    <ds:schemaRef ds:uri="http://purl.org/dc/dcmitype/"/>
    <ds:schemaRef ds:uri="http://purl.org/dc/elements/1.1/"/>
    <ds:schemaRef ds:uri="06775350-dafd-4cc2-8695-b1b1d337732d"/>
    <ds:schemaRef ds:uri="http://schemas.microsoft.com/office/infopath/2007/PartnerControls"/>
    <ds:schemaRef ds:uri="http://purl.org/dc/terms/"/>
    <ds:schemaRef ds:uri="http://schemas.microsoft.com/office/2006/metadata/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2EA6D304-E03C-45AA-A0DA-6CDD046341F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4d7232b-86b0-48a3-9d0d-94929d782f41"/>
    <ds:schemaRef ds:uri="06775350-dafd-4cc2-8695-b1b1d337732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2FACC70-F658-45C6-B9EB-672D0E84F399}">
  <ds:schemaRefs/>
</ds:datastoreItem>
</file>

<file path=customXml/itemProps4.xml><?xml version="1.0" encoding="utf-8"?>
<ds:datastoreItem xmlns:ds="http://schemas.openxmlformats.org/officeDocument/2006/customXml" ds:itemID="{0FB8FA64-205C-451C-8414-6236DFF18BBE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1d566f3b-d975-4c00-ba0d-2d0bbb10b20c}" enabled="0" method="" siteId="{1d566f3b-d975-4c00-ba0d-2d0bbb10b20c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3179</TotalTime>
  <Words>372</Words>
  <Application>Microsoft Office PowerPoint</Application>
  <PresentationFormat>Custom</PresentationFormat>
  <Paragraphs>71</Paragraphs>
  <Slides>8</Slides>
  <Notes>7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4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9" baseType="lpstr">
      <vt:lpstr>Aptos</vt:lpstr>
      <vt:lpstr>Arial</vt:lpstr>
      <vt:lpstr>Calibri</vt:lpstr>
      <vt:lpstr>Calibri Light</vt:lpstr>
      <vt:lpstr>Cambria</vt:lpstr>
      <vt:lpstr>Wingdings</vt:lpstr>
      <vt:lpstr>Wing Bank Slide</vt:lpstr>
      <vt:lpstr>Wingmall Slide</vt:lpstr>
      <vt:lpstr>1_Wingmall Slide</vt:lpstr>
      <vt:lpstr>Coffee Hub Slide</vt:lpstr>
      <vt:lpstr>think-cell Slide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Аларон</dc:creator>
  <cp:keywords>ClassificationData:&lt;Wing Bank Classification:Public&gt;</cp:keywords>
  <cp:lastModifiedBy>Piseth Sao</cp:lastModifiedBy>
  <cp:revision>668</cp:revision>
  <cp:lastPrinted>2025-10-16T06:54:02Z</cp:lastPrinted>
  <dcterms:created xsi:type="dcterms:W3CDTF">2014-11-12T21:47:38Z</dcterms:created>
  <dcterms:modified xsi:type="dcterms:W3CDTF">2026-02-23T03:21:01Z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Wing Bank Classification">
    <vt:lpwstr>Public</vt:lpwstr>
  </property>
  <property fmtid="{D5CDD505-2E9C-101B-9397-08002B2CF9AE}" pid="3" name="ClassifiedBy">
    <vt:lpwstr>WINGMONEY\vibol.ouk</vt:lpwstr>
  </property>
  <property fmtid="{D5CDD505-2E9C-101B-9397-08002B2CF9AE}" pid="4" name="ClassificationHost">
    <vt:lpwstr>W1063-VIDOL.WINGMONEY.COM</vt:lpwstr>
  </property>
  <property fmtid="{D5CDD505-2E9C-101B-9397-08002B2CF9AE}" pid="5" name="ClassificationDate">
    <vt:lpwstr>10/25/2023 3:53:50 PM</vt:lpwstr>
  </property>
  <property fmtid="{D5CDD505-2E9C-101B-9397-08002B2CF9AE}" pid="6" name="ClassificationGUID">
    <vt:lpwstr>{729bc805-ba41-49c9-870d-83425fd18035}</vt:lpwstr>
  </property>
  <property fmtid="{D5CDD505-2E9C-101B-9397-08002B2CF9AE}" pid="7" name="ContentTypeId">
    <vt:lpwstr>0x010100B1DEC170975F48479087B7960FB5AFF7</vt:lpwstr>
  </property>
  <property fmtid="{D5CDD505-2E9C-101B-9397-08002B2CF9AE}" pid="8" name="xd_ProgID">
    <vt:lpwstr/>
  </property>
  <property fmtid="{D5CDD505-2E9C-101B-9397-08002B2CF9AE}" pid="9" name="ComplianceAssetId">
    <vt:lpwstr/>
  </property>
  <property fmtid="{D5CDD505-2E9C-101B-9397-08002B2CF9AE}" pid="10" name="TemplateUrl">
    <vt:lpwstr/>
  </property>
  <property fmtid="{D5CDD505-2E9C-101B-9397-08002B2CF9AE}" pid="11" name="_ExtendedDescription">
    <vt:lpwstr/>
  </property>
  <property fmtid="{D5CDD505-2E9C-101B-9397-08002B2CF9AE}" pid="12" name="TriggerFlowInfo">
    <vt:lpwstr/>
  </property>
  <property fmtid="{D5CDD505-2E9C-101B-9397-08002B2CF9AE}" pid="13" name="xd_Signature">
    <vt:bool>false</vt:bool>
  </property>
  <property fmtid="{D5CDD505-2E9C-101B-9397-08002B2CF9AE}" pid="14" name="MediaServiceImageTags">
    <vt:lpwstr/>
  </property>
</Properties>
</file>